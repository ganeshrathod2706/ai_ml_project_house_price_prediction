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696" autoAdjust="0"/>
  </p:normalViewPr>
  <p:slideViewPr>
    <p:cSldViewPr snapToGrid="0">
      <p:cViewPr>
        <p:scale>
          <a:sx n="150" d="100"/>
          <a:sy n="150" d="100"/>
        </p:scale>
        <p:origin x="86" y="-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2" name="Google Shape;82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37" name="Google Shape;237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57" name="Google Shape;257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00" name="Google Shape;300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B5BA8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4A80D4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4A80D4">
              <a:alpha val="3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" name="Google Shape;16;p3" descr="/home/claude/logo_no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5240" y="100584"/>
            <a:ext cx="1371600" cy="569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" y="347472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502920" y="1115568"/>
            <a:ext cx="2286000" cy="320040"/>
          </a:xfrm>
          <a:prstGeom prst="rect">
            <a:avLst/>
          </a:prstGeom>
          <a:solidFill>
            <a:srgbClr val="3AACF0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02920" y="111556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9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/  ML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-3827630" y="3913650"/>
            <a:ext cx="6400800" cy="14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Internship Project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Presentation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73380" y="3118104"/>
            <a:ext cx="7772400" cy="457200"/>
          </a:xfrm>
          <a:prstGeom prst="rect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3127248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3AACF0"/>
              </a:buClr>
              <a:buSzPts val="1500"/>
            </a:pPr>
            <a:r>
              <a:rPr lang="en-IN" sz="1600" dirty="0"/>
              <a:t>House Price Prediction Model</a:t>
            </a: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502920" y="3749040"/>
            <a:ext cx="8046720" cy="0"/>
          </a:xfrm>
          <a:prstGeom prst="straightConnector1">
            <a:avLst/>
          </a:prstGeom>
          <a:noFill/>
          <a:ln w="9525" cap="flat" cmpd="sng">
            <a:solidFill>
              <a:srgbClr val="D1D9E6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502920" y="382219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ACF0"/>
              </a:buClr>
              <a:buSzPts val="750"/>
              <a:buFont typeface="Calibri"/>
              <a:buNone/>
            </a:pPr>
            <a:r>
              <a:rPr lang="en-US" sz="750" b="1">
                <a:solidFill>
                  <a:srgbClr val="3AACF0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02920" y="404164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FFFF"/>
              </a:buClr>
              <a:buSzPts val="1200"/>
            </a:pPr>
            <a:r>
              <a:rPr lang="en-IN" sz="1200" dirty="0">
                <a:solidFill>
                  <a:schemeClr val="bg1"/>
                </a:solidFill>
              </a:rPr>
              <a:t>Ganesh Sunil Rathod</a:t>
            </a:r>
            <a:endParaRPr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108960" y="382219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ACF0"/>
              </a:buClr>
              <a:buSzPts val="750"/>
              <a:buFont typeface="Calibri"/>
              <a:buNone/>
            </a:pPr>
            <a:r>
              <a:rPr lang="en-US" sz="750" b="1">
                <a:solidFill>
                  <a:srgbClr val="3AACF0"/>
                </a:solidFill>
                <a:latin typeface="Calibri"/>
                <a:ea typeface="Calibri"/>
                <a:cs typeface="Calibri"/>
                <a:sym typeface="Calibri"/>
              </a:rPr>
              <a:t>COMPANY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108960" y="402336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EduTech Solutions</a:t>
            </a:r>
            <a:endParaRPr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760720" y="382219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ACF0"/>
              </a:buClr>
              <a:buSzPts val="750"/>
              <a:buFont typeface="Calibri"/>
              <a:buNone/>
            </a:pPr>
            <a:r>
              <a:rPr lang="en-US" sz="750" b="1">
                <a:solidFill>
                  <a:srgbClr val="3AACF0"/>
                </a:solidFill>
                <a:latin typeface="Calibri"/>
                <a:ea typeface="Calibri"/>
                <a:cs typeface="Calibri"/>
                <a:sym typeface="Calibri"/>
              </a:rPr>
              <a:t>DURATION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760720" y="404164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19-5-2026 – 25-6-2026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20040" y="146304"/>
            <a:ext cx="621792" cy="621792"/>
          </a:xfrm>
          <a:prstGeom prst="ellipse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" name="Google Shape;38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2336" y="228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1078992" y="0"/>
            <a:ext cx="6217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949440" y="0"/>
            <a:ext cx="640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1D9E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1D9E6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4" descr="/home/claude/logo_nob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5240" y="54864"/>
            <a:ext cx="1371600" cy="56943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256032" y="1078992"/>
            <a:ext cx="283464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256032" y="1078992"/>
            <a:ext cx="109728" cy="3858768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57200" y="1170432"/>
            <a:ext cx="25420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C6E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A3C6E"/>
                </a:solidFill>
                <a:latin typeface="Calibri"/>
                <a:ea typeface="Calibri"/>
                <a:cs typeface="Calibri"/>
                <a:sym typeface="Calibri"/>
              </a:rPr>
              <a:t>Internship Overview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1517904"/>
            <a:ext cx="2542032" cy="332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Domain: AI / ML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Company: EduTech Solutions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Duration: 19-5-2026–25-6-2026</a:t>
            </a:r>
            <a:r>
              <a:rPr lang="en-US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-2026 – 20-5-2026-2026 – 20-5-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spcBef>
                <a:spcPts val="2000"/>
              </a:spcBef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Focus: Real-world Machine Learning Projects</a:t>
            </a:r>
          </a:p>
          <a:p>
            <a:pPr marL="342900" lvl="0" indent="-342900">
              <a:spcBef>
                <a:spcPts val="2000"/>
              </a:spcBef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Guided by Mentor Rahul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218688" y="1078992"/>
            <a:ext cx="283464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246120" y="1078992"/>
            <a:ext cx="109728" cy="3858768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447288" y="1170432"/>
            <a:ext cx="25420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C6E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A3C6E"/>
                </a:solidFill>
                <a:latin typeface="Calibri"/>
                <a:ea typeface="Calibri"/>
                <a:cs typeface="Calibri"/>
                <a:sym typeface="Calibri"/>
              </a:rPr>
              <a:t>Project Purpose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447288" y="1517904"/>
            <a:ext cx="2542032" cy="332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Develop a machine learning model for house price prediction</a:t>
            </a:r>
          </a:p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endParaRPr lang="en-IN" sz="1200" dirty="0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Analyze housing data using statistical techniques</a:t>
            </a:r>
          </a:p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endParaRPr lang="en-IN" sz="1200" dirty="0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Support data-driven real estate decisions</a:t>
            </a:r>
          </a:p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endParaRPr lang="en-IN" sz="1200" dirty="0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Apply AI/ML concepts to practical business problems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053328" y="1078992"/>
            <a:ext cx="283464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053328" y="1078992"/>
            <a:ext cx="109728" cy="3858768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254496" y="1170432"/>
            <a:ext cx="25420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C6E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A3C6E"/>
                </a:solidFill>
                <a:latin typeface="Calibri"/>
                <a:ea typeface="Calibri"/>
                <a:cs typeface="Calibri"/>
                <a:sym typeface="Calibri"/>
              </a:rPr>
              <a:t>Domain Relevance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254496" y="1517904"/>
            <a:ext cx="2542032" cy="332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AI is transforming real estate analytics</a:t>
            </a:r>
          </a:p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endParaRPr lang="en-IN" sz="1200" dirty="0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Predictive models help estimate property values</a:t>
            </a:r>
          </a:p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endParaRPr lang="en-IN" sz="1200" dirty="0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Data-driven pricing improves decision making</a:t>
            </a:r>
          </a:p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endParaRPr lang="en-IN" sz="1200" dirty="0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Hands-on exposure to industry ML workflows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20040" y="146304"/>
            <a:ext cx="621792" cy="621792"/>
          </a:xfrm>
          <a:prstGeom prst="ellipse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2336" y="228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/>
          <p:nvPr/>
        </p:nvSpPr>
        <p:spPr>
          <a:xfrm>
            <a:off x="1078992" y="0"/>
            <a:ext cx="6217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Company Overview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949440" y="0"/>
            <a:ext cx="640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1D9E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1D9E6"/>
                </a:solidFill>
                <a:latin typeface="Calibri"/>
                <a:ea typeface="Calibri"/>
                <a:cs typeface="Calibri"/>
                <a:sym typeface="Calibri"/>
              </a:rPr>
              <a:t>3 /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5" descr="/home/claude/logo_nob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5240" y="54864"/>
            <a:ext cx="1371600" cy="56943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/>
          <p:nvPr/>
        </p:nvSpPr>
        <p:spPr>
          <a:xfrm>
            <a:off x="256032" y="1078992"/>
            <a:ext cx="4663440" cy="3858768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1270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256032" y="1078992"/>
            <a:ext cx="109728" cy="3858768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75488" y="1216152"/>
            <a:ext cx="435254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ACF0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3AACF0"/>
                </a:solidFill>
                <a:latin typeface="Calibri"/>
                <a:ea typeface="Calibri"/>
                <a:cs typeface="Calibri"/>
                <a:sym typeface="Calibri"/>
              </a:rPr>
              <a:t>About EduTech Solutions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75488" y="1645920"/>
            <a:ext cx="435254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EduTech Solutions is an innovative technology company specialising in education platforms, learning management systems, and AI-powered academic tools.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75488" y="2670048"/>
            <a:ext cx="435254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9E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1D9E6"/>
                </a:solidFill>
                <a:latin typeface="Calibri"/>
                <a:ea typeface="Calibri"/>
                <a:cs typeface="Calibri"/>
                <a:sym typeface="Calibri"/>
              </a:rPr>
              <a:t>Founded with a mission to bridge technology and education, it serves thousands of students and institutions nationwide.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75488" y="3694176"/>
            <a:ext cx="4352544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9E6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rgbClr val="D1D9E6"/>
                </a:solidFill>
                <a:latin typeface="Calibri"/>
                <a:ea typeface="Calibri"/>
                <a:cs typeface="Calibri"/>
                <a:sym typeface="Calibri"/>
              </a:rPr>
              <a:t>The company invests in cutting-edge R&amp;D, ensuring learners and educators benefit from the latest AI-driven insights and personalised experiences.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138928" y="1072134"/>
            <a:ext cx="374904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138928" y="1078992"/>
            <a:ext cx="109728" cy="1828800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5340096" y="1170432"/>
            <a:ext cx="34564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C6E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A3C6E"/>
                </a:solidFill>
                <a:latin typeface="Calibri"/>
                <a:ea typeface="Calibri"/>
                <a:cs typeface="Calibri"/>
                <a:sym typeface="Calibri"/>
              </a:rPr>
              <a:t>Key Services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5340096" y="1517904"/>
            <a:ext cx="3456432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AI-driven personalised learning platforms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spcBef>
                <a:spcPts val="500"/>
              </a:spcBef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Data Analytics Platforms</a:t>
            </a:r>
          </a:p>
          <a:p>
            <a:pPr marL="342900" lvl="0" indent="-342900">
              <a:spcBef>
                <a:spcPts val="500"/>
              </a:spcBef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Predictive Intelligence Systems</a:t>
            </a:r>
          </a:p>
          <a:p>
            <a:pPr marL="342900" lvl="0" indent="-342900">
              <a:spcBef>
                <a:spcPts val="500"/>
              </a:spcBef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Educational Technology Solutions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5074920" y="3084576"/>
            <a:ext cx="374904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" name="Google Shape;77;p5"/>
          <p:cNvSpPr/>
          <p:nvPr/>
        </p:nvSpPr>
        <p:spPr>
          <a:xfrm>
            <a:off x="5138928" y="3108960"/>
            <a:ext cx="109728" cy="1828800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5340096" y="3200400"/>
            <a:ext cx="34564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C6E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A3C6E"/>
                </a:solidFill>
                <a:latin typeface="Calibri"/>
                <a:ea typeface="Calibri"/>
                <a:cs typeface="Calibri"/>
                <a:sym typeface="Calibri"/>
              </a:rPr>
              <a:t>Internship Structure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340096" y="3547872"/>
            <a:ext cx="3456432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Week 1:Training &amp; Dataset Understanding</a:t>
            </a:r>
          </a:p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Week 2: Data Analysis &amp; Visualization</a:t>
            </a:r>
          </a:p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Week 3: Model Development</a:t>
            </a:r>
          </a:p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Week 4: Testing &amp; Documentation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320040" y="146304"/>
            <a:ext cx="621792" cy="621792"/>
          </a:xfrm>
          <a:prstGeom prst="ellipse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" name="Google Shape;88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2336" y="228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/>
          <p:nvPr/>
        </p:nvSpPr>
        <p:spPr>
          <a:xfrm>
            <a:off x="1078992" y="0"/>
            <a:ext cx="6217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949440" y="0"/>
            <a:ext cx="640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1D9E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1D9E6"/>
                </a:solidFill>
                <a:latin typeface="Calibri"/>
                <a:ea typeface="Calibri"/>
                <a:cs typeface="Calibri"/>
                <a:sym typeface="Calibri"/>
              </a:rPr>
              <a:t>4 /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6" descr="/home/claude/logo_nob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5240" y="54864"/>
            <a:ext cx="1371600" cy="56943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256032" y="1078992"/>
            <a:ext cx="283464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256032" y="1078992"/>
            <a:ext cx="2834640" cy="1005840"/>
          </a:xfrm>
          <a:prstGeom prst="rect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1261872" y="1216152"/>
            <a:ext cx="749808" cy="749808"/>
          </a:xfrm>
          <a:prstGeom prst="ellipse">
            <a:avLst/>
          </a:prstGeom>
          <a:solidFill>
            <a:srgbClr val="3AACF0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2456" y="1316736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347472" y="21031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C6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3C6E"/>
                </a:solidFill>
                <a:latin typeface="Calibri"/>
                <a:ea typeface="Calibri"/>
                <a:cs typeface="Calibri"/>
                <a:sym typeface="Calibri"/>
              </a:rPr>
              <a:t>Learning Goals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38912" y="2496312"/>
            <a:ext cx="2468880" cy="2414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Understand AI/ML project lifecycle end-to-end</a:t>
            </a: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spcBef>
                <a:spcPts val="1700"/>
              </a:spcBef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IN" sz="1200" dirty="0"/>
              <a:t>Apply regression techniques</a:t>
            </a:r>
          </a:p>
          <a:p>
            <a:pPr marL="342900" lvl="0" indent="-342900">
              <a:spcBef>
                <a:spcPts val="1700"/>
              </a:spcBef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IN" sz="1200" dirty="0"/>
              <a:t>Perform EDA and feature engineering</a:t>
            </a:r>
          </a:p>
          <a:p>
            <a:pPr marL="342900" lvl="0" indent="-342900">
              <a:spcBef>
                <a:spcPts val="1700"/>
              </a:spcBef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IN" sz="1200" dirty="0"/>
              <a:t>Develop predictive analytics skills</a:t>
            </a: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218688" y="1078992"/>
            <a:ext cx="283464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3218688" y="1078992"/>
            <a:ext cx="2834640" cy="1005840"/>
          </a:xfrm>
          <a:prstGeom prst="rect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224528" y="1216152"/>
            <a:ext cx="749808" cy="749808"/>
          </a:xfrm>
          <a:prstGeom prst="ellipse">
            <a:avLst/>
          </a:prstGeom>
          <a:solidFill>
            <a:srgbClr val="3AACF0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" name="Google Shape;101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25112" y="1316736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6"/>
          <p:cNvSpPr/>
          <p:nvPr/>
        </p:nvSpPr>
        <p:spPr>
          <a:xfrm>
            <a:off x="3310128" y="21031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C6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3C6E"/>
                </a:solidFill>
                <a:latin typeface="Calibri"/>
                <a:ea typeface="Calibri"/>
                <a:cs typeface="Calibri"/>
                <a:sym typeface="Calibri"/>
              </a:rPr>
              <a:t>Technical Development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3401568" y="2496312"/>
            <a:ext cx="2468880" cy="2414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Build predictive models using Python</a:t>
            </a: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70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Master data wrangling with Pandas &amp; NumPy</a:t>
            </a: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70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Design interactive dashboards in Power BI</a:t>
            </a: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70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US" sz="115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Practice version control using Git &amp; GitHub</a:t>
            </a: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181344" y="1078992"/>
            <a:ext cx="283464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181344" y="1078992"/>
            <a:ext cx="2834640" cy="1005840"/>
          </a:xfrm>
          <a:prstGeom prst="rect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7187184" y="1216152"/>
            <a:ext cx="749808" cy="749808"/>
          </a:xfrm>
          <a:prstGeom prst="ellipse">
            <a:avLst/>
          </a:prstGeom>
          <a:solidFill>
            <a:srgbClr val="3AACF0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7" name="Google Shape;107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87768" y="1316736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/>
          <p:nvPr/>
        </p:nvSpPr>
        <p:spPr>
          <a:xfrm>
            <a:off x="6272784" y="21031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C6E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A3C6E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364224" y="2496312"/>
            <a:ext cx="2468880" cy="2414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lvl="0" indent="-342900"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IN" sz="1200" dirty="0"/>
              <a:t>Predict house prices accurately</a:t>
            </a:r>
          </a:p>
          <a:p>
            <a:pPr marL="342900" lvl="0" indent="-342900">
              <a:buClr>
                <a:srgbClr val="1A202C"/>
              </a:buClr>
              <a:buSzPts val="1150"/>
              <a:buFont typeface="Calibri"/>
              <a:buChar char="•"/>
            </a:pPr>
            <a:endParaRPr lang="en-IN" sz="1200" dirty="0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IN" sz="1200" dirty="0"/>
              <a:t>Identify important housing factor</a:t>
            </a:r>
          </a:p>
          <a:p>
            <a:pPr marL="342900" lvl="0" indent="-342900">
              <a:buClr>
                <a:srgbClr val="1A202C"/>
              </a:buClr>
              <a:buSzPts val="1150"/>
              <a:buFont typeface="Calibri"/>
              <a:buChar char="•"/>
            </a:pPr>
            <a:endParaRPr lang="en-IN" sz="1200" dirty="0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IN" sz="1200" dirty="0"/>
              <a:t>Compare regression models</a:t>
            </a:r>
          </a:p>
          <a:p>
            <a:pPr marL="342900" lvl="0" indent="-342900">
              <a:buClr>
                <a:srgbClr val="1A202C"/>
              </a:buClr>
              <a:buSzPts val="1150"/>
              <a:buFont typeface="Calibri"/>
              <a:buChar char="•"/>
            </a:pPr>
            <a:endParaRPr lang="en-IN" sz="1200" dirty="0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1A202C"/>
              </a:buClr>
              <a:buSzPts val="1150"/>
              <a:buFont typeface="Calibri"/>
              <a:buChar char="•"/>
            </a:pPr>
            <a:r>
              <a:rPr lang="en-IN" sz="1200" dirty="0"/>
              <a:t>Deliver a complete ML solution</a:t>
            </a: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320040" y="146304"/>
            <a:ext cx="621792" cy="621792"/>
          </a:xfrm>
          <a:prstGeom prst="ellipse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2336" y="228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7"/>
          <p:cNvSpPr/>
          <p:nvPr/>
        </p:nvSpPr>
        <p:spPr>
          <a:xfrm>
            <a:off x="1078992" y="0"/>
            <a:ext cx="6217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949440" y="0"/>
            <a:ext cx="640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1D9E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1D9E6"/>
                </a:solidFill>
                <a:latin typeface="Calibri"/>
                <a:ea typeface="Calibri"/>
                <a:cs typeface="Calibri"/>
                <a:sym typeface="Calibri"/>
              </a:rPr>
              <a:t>5 /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7" descr="/home/claude/logo_nob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5240" y="54864"/>
            <a:ext cx="1371600" cy="56943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/>
          <p:nvPr/>
        </p:nvSpPr>
        <p:spPr>
          <a:xfrm>
            <a:off x="256032" y="1078992"/>
            <a:ext cx="4937760" cy="3858768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1270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256032" y="1078992"/>
            <a:ext cx="109728" cy="3858768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475488" y="1216152"/>
            <a:ext cx="46268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ACF0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3AACF0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75488" y="1609344"/>
            <a:ext cx="462686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1100" dirty="0">
                <a:solidFill>
                  <a:schemeClr val="bg1"/>
                </a:solidFill>
              </a:rPr>
              <a:t>House prices are influenced by multiple factors such as area, bedrooms, bathrooms, parking, and furnishing status. Manual estimation can be inaccurate and time-consuming.</a:t>
            </a:r>
          </a:p>
        </p:txBody>
      </p:sp>
      <p:sp>
        <p:nvSpPr>
          <p:cNvPr id="126" name="Google Shape;126;p7"/>
          <p:cNvSpPr/>
          <p:nvPr/>
        </p:nvSpPr>
        <p:spPr>
          <a:xfrm>
            <a:off x="475488" y="2432304"/>
            <a:ext cx="462686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1100" dirty="0">
                <a:solidFill>
                  <a:schemeClr val="bg1"/>
                </a:solidFill>
              </a:rPr>
              <a:t>The objective is to build a machine learning model that predicts house prices based on housing characteristics.</a:t>
            </a:r>
          </a:p>
        </p:txBody>
      </p:sp>
      <p:sp>
        <p:nvSpPr>
          <p:cNvPr id="127" name="Google Shape;127;p7"/>
          <p:cNvSpPr/>
          <p:nvPr/>
        </p:nvSpPr>
        <p:spPr>
          <a:xfrm>
            <a:off x="475488" y="3255264"/>
            <a:ext cx="462686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75488" y="4078224"/>
            <a:ext cx="4626864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9E6"/>
              </a:buClr>
              <a:buSzPts val="1100"/>
              <a:buFont typeface="Calibri"/>
              <a:buNone/>
            </a:pP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394960" y="1078992"/>
            <a:ext cx="3493008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5394960" y="1078992"/>
            <a:ext cx="109728" cy="1828800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5596128" y="1170432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C6E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A3C6E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596128" y="1517904"/>
            <a:ext cx="3200400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Housing Dataset</a:t>
            </a:r>
          </a:p>
          <a:p>
            <a:pPr marL="342900" lvl="0" indent="-342900"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Classification &amp; regression ML models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spcBef>
                <a:spcPts val="500"/>
              </a:spcBef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Data Visualization</a:t>
            </a:r>
          </a:p>
          <a:p>
            <a:pPr marL="342900" lvl="0" indent="-342900">
              <a:spcBef>
                <a:spcPts val="500"/>
              </a:spcBef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Price Prediction System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303520" y="3163824"/>
            <a:ext cx="3493008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5394960" y="3108960"/>
            <a:ext cx="109728" cy="1828800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5596128" y="3200400"/>
            <a:ext cx="3200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C6E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1A3C6E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596128" y="3547872"/>
            <a:ext cx="3200400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indent="-342900"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Data Cleaning</a:t>
            </a:r>
            <a:endParaRPr lang="en-US" sz="1200" dirty="0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Exploratory data analysis (EDA)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spcBef>
                <a:spcPts val="500"/>
              </a:spcBef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IN" sz="1200" dirty="0"/>
              <a:t>One-Hot Encoding</a:t>
            </a:r>
          </a:p>
          <a:p>
            <a:pPr marL="342900" lvl="0" indent="-342900">
              <a:spcBef>
                <a:spcPts val="500"/>
              </a:spcBef>
              <a:buClr>
                <a:srgbClr val="1A202C"/>
              </a:buClr>
              <a:buSzPts val="1200"/>
              <a:buFont typeface="Calibri"/>
              <a:buChar char="•"/>
            </a:pPr>
            <a:r>
              <a:rPr lang="en-US" sz="120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r>
              <a:rPr lang="en-IN" sz="1200" dirty="0"/>
              <a:t>Regression Modeling </a:t>
            </a:r>
            <a:r>
              <a:rPr lang="en-US" sz="120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IN" sz="1200" dirty="0"/>
              <a:t>Performance Evaluation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320040" y="146304"/>
            <a:ext cx="621792" cy="621792"/>
          </a:xfrm>
          <a:prstGeom prst="ellipse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5" name="Google Shape;145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2336" y="228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1078992" y="0"/>
            <a:ext cx="6217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949440" y="0"/>
            <a:ext cx="640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1D9E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1D9E6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8" descr="/home/claude/logo_nob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5240" y="54864"/>
            <a:ext cx="1371600" cy="56943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/>
          <p:nvPr/>
        </p:nvSpPr>
        <p:spPr>
          <a:xfrm>
            <a:off x="256032" y="1078992"/>
            <a:ext cx="201168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256032" y="1078992"/>
            <a:ext cx="2011680" cy="658368"/>
          </a:xfrm>
          <a:prstGeom prst="rect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301752" y="1115568"/>
            <a:ext cx="621792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AACF0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3AACF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914400" y="1115568"/>
            <a:ext cx="1298448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393192" y="1828800"/>
            <a:ext cx="1737360" cy="309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lvl="0" indent="-342900">
              <a:buClr>
                <a:srgbClr val="1A202C"/>
              </a:buClr>
              <a:buSzPts val="1000"/>
              <a:buFont typeface="Calibri"/>
              <a:buChar char="•"/>
            </a:pPr>
            <a:r>
              <a:rPr lang="en-IN" sz="1000" dirty="0"/>
              <a:t>Housing.csv Dataset</a:t>
            </a:r>
          </a:p>
          <a:p>
            <a:pPr marL="342900" lvl="0" indent="-342900">
              <a:buClr>
                <a:srgbClr val="1A202C"/>
              </a:buClr>
              <a:buSzPts val="1000"/>
              <a:buFont typeface="Calibri"/>
              <a:buChar char="•"/>
            </a:pPr>
            <a:endParaRPr lang="en-IN" sz="1000" dirty="0"/>
          </a:p>
          <a:p>
            <a:pPr lvl="0">
              <a:buClr>
                <a:srgbClr val="1A202C"/>
              </a:buClr>
              <a:buSzPts val="1000"/>
            </a:pPr>
            <a:endParaRPr lang="en-IN" sz="1000" dirty="0"/>
          </a:p>
          <a:p>
            <a:pPr marL="342900" lvl="0" indent="-342900">
              <a:buClr>
                <a:srgbClr val="1A202C"/>
              </a:buClr>
              <a:buSzPts val="1000"/>
              <a:buFont typeface="Calibri"/>
              <a:buChar char="•"/>
            </a:pPr>
            <a:endParaRPr lang="en-IN" sz="1000" dirty="0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1A202C"/>
              </a:buClr>
              <a:buSzPts val="1000"/>
              <a:buFont typeface="Calibri"/>
              <a:buChar char="•"/>
            </a:pPr>
            <a:r>
              <a:rPr lang="en-IN" sz="1000" dirty="0"/>
              <a:t>545 House Records</a:t>
            </a:r>
          </a:p>
          <a:p>
            <a:pPr marL="342900" lvl="0" indent="-342900">
              <a:buClr>
                <a:srgbClr val="1A202C"/>
              </a:buClr>
              <a:buSzPts val="1000"/>
              <a:buFont typeface="Calibri"/>
              <a:buChar char="•"/>
            </a:pPr>
            <a:endParaRPr lang="en-IN" sz="1000" dirty="0"/>
          </a:p>
          <a:p>
            <a:pPr marL="342900" lvl="0" indent="-342900">
              <a:buClr>
                <a:srgbClr val="1A202C"/>
              </a:buClr>
              <a:buSzPts val="1000"/>
              <a:buFont typeface="Calibri"/>
              <a:buChar char="•"/>
            </a:pPr>
            <a:endParaRPr lang="en-IN" sz="1000" dirty="0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1A202C"/>
              </a:buClr>
              <a:buSzPts val="1000"/>
              <a:buFont typeface="Calibri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Structured &amp; semi-structured sources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spcBef>
                <a:spcPts val="2500"/>
              </a:spcBef>
              <a:buClr>
                <a:srgbClr val="1A202C"/>
              </a:buClr>
              <a:buSzPts val="1000"/>
              <a:buFont typeface="Calibri"/>
              <a:buChar char="•"/>
            </a:pPr>
            <a:r>
              <a:rPr lang="en-IN" sz="1000" dirty="0"/>
              <a:t>Multiple Housing Features</a:t>
            </a:r>
          </a:p>
        </p:txBody>
      </p:sp>
      <p:sp>
        <p:nvSpPr>
          <p:cNvPr id="154" name="Google Shape;154;p8"/>
          <p:cNvSpPr/>
          <p:nvPr/>
        </p:nvSpPr>
        <p:spPr>
          <a:xfrm>
            <a:off x="2432304" y="1078992"/>
            <a:ext cx="201168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2432304" y="1078992"/>
            <a:ext cx="2011680" cy="658368"/>
          </a:xfrm>
          <a:prstGeom prst="rect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2478024" y="1115568"/>
            <a:ext cx="621792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AACF0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3AACF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090672" y="1115568"/>
            <a:ext cx="1298448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2569464" y="1828800"/>
            <a:ext cx="1737360" cy="309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00"/>
              <a:buFont typeface="Calibri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Handle missing values &amp; outliers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spcBef>
                <a:spcPts val="2500"/>
              </a:spcBef>
              <a:buClr>
                <a:srgbClr val="1A202C"/>
              </a:buClr>
              <a:buSzPts val="1000"/>
              <a:buFont typeface="Calibri"/>
              <a:buChar char="•"/>
            </a:pPr>
            <a:r>
              <a:rPr lang="en-IN" sz="1000" dirty="0"/>
              <a:t>Duplicate Removal</a:t>
            </a:r>
            <a:endParaRPr lang="en-IN" sz="1000" dirty="0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spcBef>
                <a:spcPts val="2500"/>
              </a:spcBef>
              <a:buClr>
                <a:srgbClr val="1A202C"/>
              </a:buClr>
              <a:buSzPts val="1000"/>
              <a:buFont typeface="Calibri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Train / test split (80 / 20 ratio)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spcBef>
                <a:spcPts val="2500"/>
              </a:spcBef>
              <a:buClr>
                <a:srgbClr val="1A202C"/>
              </a:buClr>
              <a:buSzPts val="1000"/>
              <a:buFont typeface="Calibri"/>
              <a:buChar char="•"/>
            </a:pPr>
            <a:r>
              <a:rPr lang="en-IN" sz="1000" dirty="0"/>
              <a:t>One-Hot Encoding VIF Analysis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553712" y="1078992"/>
            <a:ext cx="201168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608576" y="1078992"/>
            <a:ext cx="2011680" cy="658368"/>
          </a:xfrm>
          <a:prstGeom prst="rect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4654296" y="1115568"/>
            <a:ext cx="621792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AACF0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3AACF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266944" y="1115568"/>
            <a:ext cx="1298448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Development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745736" y="1828800"/>
            <a:ext cx="1737360" cy="309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00"/>
              <a:buFont typeface="Calibri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Baseline: Linear Regression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spcBef>
                <a:spcPts val="2500"/>
              </a:spcBef>
              <a:buClr>
                <a:srgbClr val="1A202C"/>
              </a:buClr>
              <a:buSzPts val="1000"/>
              <a:buFont typeface="Calibri"/>
              <a:buChar char="•"/>
            </a:pPr>
            <a:r>
              <a:rPr lang="en-IN" sz="1000" dirty="0"/>
              <a:t>Ridge Regression</a:t>
            </a:r>
          </a:p>
          <a:p>
            <a:pPr marL="342900" lvl="0" indent="-342900">
              <a:spcBef>
                <a:spcPts val="2500"/>
              </a:spcBef>
              <a:buClr>
                <a:srgbClr val="1A202C"/>
              </a:buClr>
              <a:buSzPts val="1000"/>
              <a:buFont typeface="Calibri"/>
              <a:buChar char="•"/>
            </a:pPr>
            <a:r>
              <a:rPr lang="en-US" sz="100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Feature importance analysis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784848" y="1060704"/>
            <a:ext cx="201168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6784848" y="1078992"/>
            <a:ext cx="2011680" cy="658368"/>
          </a:xfrm>
          <a:prstGeom prst="rect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830568" y="1115568"/>
            <a:ext cx="621792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AACF0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3AACF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7443216" y="1115568"/>
            <a:ext cx="1298448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Testing &amp; Validation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922008" y="1828800"/>
            <a:ext cx="1737360" cy="309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lvl="0" indent="-342900">
              <a:buClr>
                <a:srgbClr val="1A202C"/>
              </a:buClr>
              <a:buSzPts val="1000"/>
              <a:buFont typeface="Calibri"/>
              <a:buChar char="•"/>
            </a:pPr>
            <a:r>
              <a:rPr lang="en-IN" sz="1000" dirty="0"/>
              <a:t>Train-Test Split</a:t>
            </a:r>
          </a:p>
          <a:p>
            <a:pPr marL="342900" lvl="0" indent="-342900">
              <a:buClr>
                <a:srgbClr val="1A202C"/>
              </a:buClr>
              <a:buSzPts val="1000"/>
              <a:buFont typeface="Calibri"/>
              <a:buChar char="•"/>
            </a:pPr>
            <a:endParaRPr lang="en-IN" sz="1000" dirty="0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1A202C"/>
              </a:buClr>
              <a:buSzPts val="1000"/>
              <a:buFont typeface="Calibri"/>
              <a:buChar char="•"/>
            </a:pPr>
            <a:r>
              <a:rPr lang="en-IN" sz="1000" dirty="0"/>
              <a:t>MAE : Mean Absolute Error</a:t>
            </a:r>
          </a:p>
          <a:p>
            <a:pPr marL="342900" lvl="0" indent="-342900">
              <a:buClr>
                <a:srgbClr val="1A202C"/>
              </a:buClr>
              <a:buSzPts val="1000"/>
              <a:buFont typeface="Calibri"/>
              <a:buChar char="•"/>
            </a:pPr>
            <a:endParaRPr lang="en-IN" sz="1000" dirty="0">
              <a:solidFill>
                <a:srgbClr val="1A20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1A202C"/>
              </a:buClr>
              <a:buSzPts val="1000"/>
              <a:buFont typeface="Calibri"/>
              <a:buChar char="•"/>
            </a:pPr>
            <a:r>
              <a:rPr lang="en-IN" sz="1000" dirty="0"/>
              <a:t>RMSE </a:t>
            </a:r>
            <a:r>
              <a:rPr lang="en-IN" sz="100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N" sz="1000" dirty="0"/>
              <a:t>Root Mean Square Error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spcBef>
                <a:spcPts val="2500"/>
              </a:spcBef>
              <a:buClr>
                <a:srgbClr val="1A202C"/>
              </a:buClr>
              <a:buSzPts val="1000"/>
              <a:buFont typeface="Calibri"/>
              <a:buChar char="•"/>
            </a:pPr>
            <a:r>
              <a:rPr lang="en-IN" sz="1000" dirty="0"/>
              <a:t>R² Score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8"/>
          <p:cNvCxnSpPr/>
          <p:nvPr/>
        </p:nvCxnSpPr>
        <p:spPr>
          <a:xfrm>
            <a:off x="2267712" y="1408176"/>
            <a:ext cx="164592" cy="0"/>
          </a:xfrm>
          <a:prstGeom prst="straightConnector1">
            <a:avLst/>
          </a:prstGeom>
          <a:noFill/>
          <a:ln w="25400" cap="flat" cmpd="sng">
            <a:solidFill>
              <a:srgbClr val="3AACF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0" name="Google Shape;170;p8"/>
          <p:cNvCxnSpPr/>
          <p:nvPr/>
        </p:nvCxnSpPr>
        <p:spPr>
          <a:xfrm>
            <a:off x="4443984" y="1408176"/>
            <a:ext cx="164592" cy="0"/>
          </a:xfrm>
          <a:prstGeom prst="straightConnector1">
            <a:avLst/>
          </a:prstGeom>
          <a:noFill/>
          <a:ln w="25400" cap="flat" cmpd="sng">
            <a:solidFill>
              <a:srgbClr val="3AACF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8"/>
          <p:cNvCxnSpPr/>
          <p:nvPr/>
        </p:nvCxnSpPr>
        <p:spPr>
          <a:xfrm>
            <a:off x="6620256" y="1408176"/>
            <a:ext cx="164592" cy="0"/>
          </a:xfrm>
          <a:prstGeom prst="straightConnector1">
            <a:avLst/>
          </a:prstGeom>
          <a:noFill/>
          <a:ln w="25400" cap="flat" cmpd="sng">
            <a:solidFill>
              <a:srgbClr val="3AACF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320040" y="146304"/>
            <a:ext cx="621792" cy="621792"/>
          </a:xfrm>
          <a:prstGeom prst="ellipse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0" name="Google Shape;180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2336" y="228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9"/>
          <p:cNvSpPr/>
          <p:nvPr/>
        </p:nvSpPr>
        <p:spPr>
          <a:xfrm>
            <a:off x="1078992" y="0"/>
            <a:ext cx="6217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Tools &amp; Technologies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949440" y="0"/>
            <a:ext cx="640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1D9E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1D9E6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9" descr="/home/claude/logo_nob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5240" y="54864"/>
            <a:ext cx="1371600" cy="56943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/>
          <p:nvPr/>
        </p:nvSpPr>
        <p:spPr>
          <a:xfrm>
            <a:off x="256032" y="1078992"/>
            <a:ext cx="283464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256032" y="1078992"/>
            <a:ext cx="2834640" cy="694944"/>
          </a:xfrm>
          <a:prstGeom prst="rect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384048" y="1170432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7" name="Google Shape;187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9768" y="1216152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/>
          <p:nvPr/>
        </p:nvSpPr>
        <p:spPr>
          <a:xfrm>
            <a:off x="1024128" y="1078992"/>
            <a:ext cx="199339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Programming &amp; 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20624" y="1883664"/>
            <a:ext cx="2505456" cy="6675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420624" y="1883664"/>
            <a:ext cx="91440" cy="667512"/>
          </a:xfrm>
          <a:prstGeom prst="rect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585216" y="1883664"/>
            <a:ext cx="2322576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Python 3.x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20624" y="2660904"/>
            <a:ext cx="2505456" cy="6675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20624" y="2660904"/>
            <a:ext cx="91440" cy="667512"/>
          </a:xfrm>
          <a:prstGeom prst="rect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585216" y="2660904"/>
            <a:ext cx="2322576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20624" y="3438144"/>
            <a:ext cx="2505456" cy="6675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20624" y="3438144"/>
            <a:ext cx="91440" cy="667512"/>
          </a:xfrm>
          <a:prstGeom prst="rect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585216" y="3438144"/>
            <a:ext cx="2322576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20624" y="4215384"/>
            <a:ext cx="2505456" cy="6675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20624" y="4215384"/>
            <a:ext cx="91440" cy="667512"/>
          </a:xfrm>
          <a:prstGeom prst="rect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585216" y="4215384"/>
            <a:ext cx="2322576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218688" y="1078992"/>
            <a:ext cx="283464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3218688" y="1078992"/>
            <a:ext cx="2834640" cy="69494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3346704" y="1170432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4" name="Google Shape;204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92424" y="1216152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9"/>
          <p:cNvSpPr/>
          <p:nvPr/>
        </p:nvSpPr>
        <p:spPr>
          <a:xfrm>
            <a:off x="3986784" y="1078992"/>
            <a:ext cx="199339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Visualisation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3383280" y="1883664"/>
            <a:ext cx="2505456" cy="6675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 Matplotlib</a:t>
            </a:r>
            <a:endParaRPr dirty="0"/>
          </a:p>
        </p:txBody>
      </p:sp>
      <p:sp>
        <p:nvSpPr>
          <p:cNvPr id="207" name="Google Shape;207;p9"/>
          <p:cNvSpPr/>
          <p:nvPr/>
        </p:nvSpPr>
        <p:spPr>
          <a:xfrm>
            <a:off x="3383280" y="1883664"/>
            <a:ext cx="91440" cy="6675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3547872" y="1883664"/>
            <a:ext cx="2322576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None/>
            </a:pP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3383280" y="2660904"/>
            <a:ext cx="2505456" cy="6675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rgbClr val="1A202C"/>
              </a:buClr>
              <a:buSzPts val="1150"/>
            </a:pPr>
            <a:r>
              <a:rPr lang="en-US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  Seaborn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3383280" y="2660904"/>
            <a:ext cx="91440" cy="6675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3547872" y="2660904"/>
            <a:ext cx="2322576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None/>
            </a:pP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3383280" y="3396996"/>
            <a:ext cx="2505456" cy="6675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3383280" y="3438144"/>
            <a:ext cx="91440" cy="6675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3547872" y="3438144"/>
            <a:ext cx="2322576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None/>
            </a:pP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3383280" y="4215384"/>
            <a:ext cx="2505456" cy="6675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p9"/>
          <p:cNvSpPr/>
          <p:nvPr/>
        </p:nvSpPr>
        <p:spPr>
          <a:xfrm>
            <a:off x="3383280" y="4215384"/>
            <a:ext cx="91440" cy="66751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3547872" y="4215384"/>
            <a:ext cx="2322576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None/>
            </a:pP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181344" y="1078992"/>
            <a:ext cx="283464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6181344" y="1078992"/>
            <a:ext cx="2834640" cy="694944"/>
          </a:xfrm>
          <a:prstGeom prst="rect">
            <a:avLst/>
          </a:prstGeom>
          <a:solidFill>
            <a:srgbClr val="1A6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6309360" y="1170432"/>
            <a:ext cx="512064" cy="51206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1" name="Google Shape;221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5080" y="1216152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9"/>
          <p:cNvSpPr/>
          <p:nvPr/>
        </p:nvSpPr>
        <p:spPr>
          <a:xfrm>
            <a:off x="6949440" y="1078992"/>
            <a:ext cx="1993392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Development &amp; Version Control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6345936" y="1883664"/>
            <a:ext cx="2505456" cy="6675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6345936" y="1883664"/>
            <a:ext cx="91440" cy="667512"/>
          </a:xfrm>
          <a:prstGeom prst="rect">
            <a:avLst/>
          </a:prstGeom>
          <a:solidFill>
            <a:srgbClr val="1A6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6510528" y="1883664"/>
            <a:ext cx="2322576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Jupyter Notebook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345936" y="2660904"/>
            <a:ext cx="2505456" cy="6675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6345936" y="2660904"/>
            <a:ext cx="91440" cy="667512"/>
          </a:xfrm>
          <a:prstGeom prst="rect">
            <a:avLst/>
          </a:prstGeom>
          <a:solidFill>
            <a:srgbClr val="1A6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6510528" y="2660904"/>
            <a:ext cx="2322576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VS Code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345936" y="3438144"/>
            <a:ext cx="2505456" cy="6675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6345936" y="3438144"/>
            <a:ext cx="91440" cy="667512"/>
          </a:xfrm>
          <a:prstGeom prst="rect">
            <a:avLst/>
          </a:prstGeom>
          <a:solidFill>
            <a:srgbClr val="1A6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6510528" y="3438144"/>
            <a:ext cx="2322576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Git &amp; GitHub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345936" y="4215384"/>
            <a:ext cx="2505456" cy="66751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9"/>
          <p:cNvSpPr/>
          <p:nvPr/>
        </p:nvSpPr>
        <p:spPr>
          <a:xfrm>
            <a:off x="6345936" y="4215384"/>
            <a:ext cx="91440" cy="667512"/>
          </a:xfrm>
          <a:prstGeom prst="rect">
            <a:avLst/>
          </a:prstGeom>
          <a:solidFill>
            <a:srgbClr val="1A6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6510528" y="4215384"/>
            <a:ext cx="2322576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50"/>
              <a:buFont typeface="Calibri"/>
              <a:buNone/>
            </a:pPr>
            <a:endParaRPr sz="11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320040" y="146304"/>
            <a:ext cx="621792" cy="621792"/>
          </a:xfrm>
          <a:prstGeom prst="ellipse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3" name="Google Shape;243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2336" y="228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0"/>
          <p:cNvSpPr/>
          <p:nvPr/>
        </p:nvSpPr>
        <p:spPr>
          <a:xfrm>
            <a:off x="1078992" y="0"/>
            <a:ext cx="6217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6949440" y="0"/>
            <a:ext cx="640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1D9E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1D9E6"/>
                </a:solidFill>
                <a:latin typeface="Calibri"/>
                <a:ea typeface="Calibri"/>
                <a:cs typeface="Calibri"/>
                <a:sym typeface="Calibri"/>
              </a:rPr>
              <a:t>8 /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10" descr="/home/claude/logo_nob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5240" y="54864"/>
            <a:ext cx="1371600" cy="569433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0"/>
          <p:cNvSpPr/>
          <p:nvPr/>
        </p:nvSpPr>
        <p:spPr>
          <a:xfrm>
            <a:off x="404022" y="1115568"/>
            <a:ext cx="68711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chemeClr val="dk1"/>
              </a:buClr>
              <a:buSzPts val="3400"/>
            </a:pPr>
            <a:endParaRPr sz="3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338119" y="1711969"/>
            <a:ext cx="3441192" cy="1668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en-IN" sz="1000" dirty="0"/>
          </a:p>
        </p:txBody>
      </p:sp>
      <p:sp>
        <p:nvSpPr>
          <p:cNvPr id="249" name="Google Shape;249;p10"/>
          <p:cNvSpPr/>
          <p:nvPr/>
        </p:nvSpPr>
        <p:spPr>
          <a:xfrm>
            <a:off x="3218688" y="1078992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None/>
            </a:pP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3218688" y="170078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181344" y="1078992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None/>
            </a:pP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6181344" y="170078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5852160" y="2286000"/>
            <a:ext cx="29443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2291455" y="2228088"/>
            <a:ext cx="7121409" cy="227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7E21CE-1213-7C2E-78D8-8AF7B42B0BAA}"/>
              </a:ext>
            </a:extLst>
          </p:cNvPr>
          <p:cNvSpPr txBox="1"/>
          <p:nvPr/>
        </p:nvSpPr>
        <p:spPr>
          <a:xfrm>
            <a:off x="82296" y="961042"/>
            <a:ext cx="47066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House Price Prediction Model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71C5D7-A3D1-6D8C-8FA0-0A1903C5947B}"/>
              </a:ext>
            </a:extLst>
          </p:cNvPr>
          <p:cNvSpPr txBox="1"/>
          <p:nvPr/>
        </p:nvSpPr>
        <p:spPr>
          <a:xfrm>
            <a:off x="128016" y="1231391"/>
            <a:ext cx="47066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Content: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C76EBB-D243-7675-5685-17C76DA74195}"/>
              </a:ext>
            </a:extLst>
          </p:cNvPr>
          <p:cNvSpPr txBox="1"/>
          <p:nvPr/>
        </p:nvSpPr>
        <p:spPr>
          <a:xfrm>
            <a:off x="128016" y="1474051"/>
            <a:ext cx="7502718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Takes house features as input</a:t>
            </a:r>
          </a:p>
          <a:p>
            <a:pPr>
              <a:buNone/>
            </a:pPr>
            <a:r>
              <a:rPr lang="en-IN" dirty="0"/>
              <a:t>• Analyzes housing attributes including: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900" dirty="0"/>
              <a:t>Area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900" dirty="0"/>
              <a:t>Bedrooms &amp; Bathrooms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900" dirty="0"/>
              <a:t>Stories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900" dirty="0"/>
              <a:t>Parking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900" dirty="0"/>
              <a:t>Furnishing Status</a:t>
            </a:r>
          </a:p>
          <a:p>
            <a:pPr>
              <a:buNone/>
            </a:pPr>
            <a:r>
              <a:rPr lang="en-IN" dirty="0"/>
              <a:t>• Performs data preprocessing using:</a:t>
            </a:r>
            <a:br>
              <a:rPr lang="en-IN" dirty="0"/>
            </a:br>
            <a:r>
              <a:rPr lang="en-IN" sz="900" dirty="0"/>
              <a:t>◦ Missing Value Handling</a:t>
            </a:r>
            <a:br>
              <a:rPr lang="en-IN" sz="900" dirty="0"/>
            </a:br>
            <a:r>
              <a:rPr lang="en-IN" sz="900" dirty="0"/>
              <a:t>◦ One-Hot Encoding</a:t>
            </a:r>
            <a:br>
              <a:rPr lang="en-IN" sz="900" dirty="0"/>
            </a:br>
            <a:r>
              <a:rPr lang="en-IN" sz="900" dirty="0"/>
              <a:t>◦ Feature Engineering</a:t>
            </a:r>
            <a:endParaRPr lang="en-IN" dirty="0"/>
          </a:p>
          <a:p>
            <a:pPr>
              <a:buNone/>
            </a:pPr>
            <a:r>
              <a:rPr lang="en-IN" dirty="0"/>
              <a:t>• Predicts house prices using:</a:t>
            </a:r>
          </a:p>
          <a:p>
            <a:pPr>
              <a:buNone/>
            </a:pPr>
            <a:r>
              <a:rPr lang="en-IN" sz="900" dirty="0"/>
              <a:t>◦ Linear Regression</a:t>
            </a:r>
            <a:br>
              <a:rPr lang="en-IN" sz="900" dirty="0"/>
            </a:br>
            <a:r>
              <a:rPr lang="en-IN" sz="900" dirty="0"/>
              <a:t>◦ Ridge Regression</a:t>
            </a:r>
          </a:p>
          <a:p>
            <a:pPr>
              <a:buNone/>
            </a:pPr>
            <a:r>
              <a:rPr lang="en-IN" dirty="0"/>
              <a:t>• Evaluates model performance using:</a:t>
            </a:r>
            <a:br>
              <a:rPr lang="en-IN" dirty="0"/>
            </a:br>
            <a:r>
              <a:rPr lang="en-IN" sz="900" dirty="0"/>
              <a:t>◦ MAE</a:t>
            </a:r>
            <a:br>
              <a:rPr lang="en-IN" sz="900" dirty="0"/>
            </a:br>
            <a:r>
              <a:rPr lang="en-IN" sz="900" dirty="0"/>
              <a:t>◦ RMSE</a:t>
            </a:r>
            <a:br>
              <a:rPr lang="en-IN" sz="900" dirty="0"/>
            </a:br>
            <a:r>
              <a:rPr lang="en-IN" sz="900" dirty="0"/>
              <a:t>◦ R² Score</a:t>
            </a:r>
          </a:p>
          <a:p>
            <a:pPr>
              <a:buNone/>
            </a:pPr>
            <a:r>
              <a:rPr lang="en-IN" dirty="0"/>
              <a:t>• Displays predicted house price accurately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8DBCC2-4E1A-38D9-CD7E-81A610370C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4700" y="1058732"/>
            <a:ext cx="2128883" cy="13494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56B357-B5C2-4C62-4309-0F8EDFADA4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7436" y="2497708"/>
            <a:ext cx="2114087" cy="14828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AEFA418-5141-1883-EBD2-2D9549B158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5861" y="1035910"/>
            <a:ext cx="2114087" cy="14153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74A6758-51C3-4FF9-9BE5-B65666EDC3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5860" y="2518267"/>
            <a:ext cx="2114087" cy="1441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320040" y="146304"/>
            <a:ext cx="621792" cy="621792"/>
          </a:xfrm>
          <a:prstGeom prst="ellipse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3" name="Google Shape;263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2336" y="228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1"/>
          <p:cNvSpPr/>
          <p:nvPr/>
        </p:nvSpPr>
        <p:spPr>
          <a:xfrm>
            <a:off x="1078992" y="0"/>
            <a:ext cx="62179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Challenges &amp; Learning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6949440" y="0"/>
            <a:ext cx="640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1D9E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1D9E6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11" descr="/home/claude/logo_nob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5240" y="54864"/>
            <a:ext cx="1371600" cy="569433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1"/>
          <p:cNvSpPr/>
          <p:nvPr/>
        </p:nvSpPr>
        <p:spPr>
          <a:xfrm>
            <a:off x="256032" y="1078992"/>
            <a:ext cx="438912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256032" y="1078992"/>
            <a:ext cx="4389120" cy="42062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365760" y="1115568"/>
            <a:ext cx="416966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Challenges Faced &amp; Solutions Applied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256032" y="1554480"/>
            <a:ext cx="4389120" cy="8458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365760" y="1609344"/>
            <a:ext cx="4169664" cy="355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C0392B"/>
              </a:buClr>
              <a:buSzPts val="1050"/>
            </a:pPr>
            <a:r>
              <a:rPr lang="en-US" sz="1050" b="1" dirty="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 </a:t>
            </a:r>
            <a:r>
              <a:rPr lang="en-IN" sz="1050" b="1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Model Selection</a:t>
            </a:r>
            <a:endParaRPr sz="1050" b="1" dirty="0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365760" y="1926641"/>
            <a:ext cx="4169664" cy="40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A202C"/>
              </a:buClr>
              <a:buSzPts val="1050"/>
            </a:pPr>
            <a:r>
              <a:rPr lang="en-US" sz="105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IN" sz="1050" dirty="0"/>
              <a:t>Compared Linear &amp; Ridge Regression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365760" y="2455164"/>
            <a:ext cx="4169664" cy="355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C0392B"/>
              </a:buClr>
              <a:buSzPts val="1050"/>
            </a:pPr>
            <a:r>
              <a:rPr lang="en-US" sz="1050" b="1" dirty="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 </a:t>
            </a:r>
            <a:r>
              <a:rPr lang="en-IN" sz="1050" dirty="0"/>
              <a:t> </a:t>
            </a:r>
            <a:r>
              <a:rPr lang="en-IN" sz="1050" b="1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Handling Categorical Variables</a:t>
            </a:r>
            <a:endParaRPr sz="1050" b="1" dirty="0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365760" y="2772461"/>
            <a:ext cx="4169664" cy="40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A202C"/>
              </a:buClr>
              <a:buSzPts val="1050"/>
            </a:pPr>
            <a:r>
              <a:rPr lang="en-US" sz="105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IN" sz="1050" dirty="0"/>
              <a:t>One-Hot Encoding Applied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256032" y="3203754"/>
            <a:ext cx="4389120" cy="8458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365760" y="3300984"/>
            <a:ext cx="4169664" cy="355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lang="en-US" sz="1050" b="1" dirty="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 Feature multicollinearity detected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365760" y="3618281"/>
            <a:ext cx="4169664" cy="40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A202C"/>
              </a:buClr>
              <a:buSzPts val="1050"/>
            </a:pPr>
            <a:r>
              <a:rPr lang="en-US" sz="105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→  VIF-based feature selection or  </a:t>
            </a:r>
            <a:r>
              <a:rPr lang="en-IN" sz="1050" dirty="0"/>
              <a:t>VIF Analysis Performed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365760" y="4146804"/>
            <a:ext cx="4169664" cy="355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C0392B"/>
              </a:buClr>
              <a:buSzPts val="1050"/>
            </a:pPr>
            <a:r>
              <a:rPr lang="en-US" sz="1050" b="1" dirty="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  </a:t>
            </a:r>
            <a:r>
              <a:rPr lang="en-IN" sz="1050" b="1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Feature</a:t>
            </a:r>
            <a:r>
              <a:rPr lang="en-IN" sz="1050" dirty="0"/>
              <a:t> </a:t>
            </a:r>
            <a:r>
              <a:rPr lang="en-IN" sz="1050" b="1" dirty="0">
                <a:solidFill>
                  <a:srgbClr val="C0392B"/>
                </a:solidFill>
                <a:latin typeface="Calibri"/>
                <a:ea typeface="Calibri"/>
                <a:cs typeface="Calibri"/>
              </a:rPr>
              <a:t>Relationships</a:t>
            </a:r>
            <a:endParaRPr sz="1050" b="1" dirty="0">
              <a:solidFill>
                <a:srgbClr val="C039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365760" y="4464101"/>
            <a:ext cx="4169664" cy="40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1A202C"/>
              </a:buClr>
              <a:buSzPts val="1050"/>
            </a:pPr>
            <a:r>
              <a:rPr lang="en-US" sz="1050" dirty="0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IN" sz="1050" dirty="0"/>
              <a:t>Correlation Analysis Conducted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864608" y="1078992"/>
            <a:ext cx="4023360" cy="3858768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1016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1" name="Google Shape;281;p11"/>
          <p:cNvSpPr/>
          <p:nvPr/>
        </p:nvSpPr>
        <p:spPr>
          <a:xfrm>
            <a:off x="4864608" y="1078992"/>
            <a:ext cx="4023360" cy="420624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4974336" y="1115568"/>
            <a:ext cx="380390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C6E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A3C6E"/>
                </a:solidFill>
                <a:latin typeface="Calibri"/>
                <a:ea typeface="Calibri"/>
                <a:cs typeface="Calibri"/>
                <a:sym typeface="Calibri"/>
              </a:rPr>
              <a:t>Skills Gained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4974336" y="1627632"/>
            <a:ext cx="347472" cy="530352"/>
          </a:xfrm>
          <a:prstGeom prst="rect">
            <a:avLst/>
          </a:prstGeom>
          <a:solidFill>
            <a:srgbClr val="3AACF0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4974336" y="1627632"/>
            <a:ext cx="34747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5394960" y="1554480"/>
            <a:ext cx="340156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BDD5F0"/>
              </a:buClr>
              <a:buSzPts val="1100"/>
            </a:pPr>
            <a:r>
              <a:rPr lang="en-IN" sz="1100" dirty="0">
                <a:solidFill>
                  <a:schemeClr val="bg1"/>
                </a:solidFill>
              </a:rPr>
              <a:t>Data</a:t>
            </a:r>
            <a:r>
              <a:rPr lang="en-IN" sz="1100" dirty="0"/>
              <a:t> </a:t>
            </a:r>
            <a:r>
              <a:rPr lang="en-IN" sz="1100" dirty="0">
                <a:solidFill>
                  <a:schemeClr val="bg1"/>
                </a:solidFill>
              </a:rPr>
              <a:t>Preprocessing</a:t>
            </a:r>
            <a:endParaRPr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4974336" y="2304288"/>
            <a:ext cx="347472" cy="530352"/>
          </a:xfrm>
          <a:prstGeom prst="rect">
            <a:avLst/>
          </a:prstGeom>
          <a:solidFill>
            <a:srgbClr val="3AACF0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4974336" y="2304288"/>
            <a:ext cx="34747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5394960" y="2231136"/>
            <a:ext cx="340156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BDD5F0"/>
              </a:buClr>
              <a:buSzPts val="1100"/>
            </a:pPr>
            <a:r>
              <a:rPr lang="en-IN" sz="1100" dirty="0">
                <a:solidFill>
                  <a:schemeClr val="bg1"/>
                </a:solidFill>
              </a:rPr>
              <a:t>Exploratory Data Analysis</a:t>
            </a:r>
            <a:endParaRPr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4974336" y="2980944"/>
            <a:ext cx="347472" cy="530352"/>
          </a:xfrm>
          <a:prstGeom prst="rect">
            <a:avLst/>
          </a:prstGeom>
          <a:solidFill>
            <a:srgbClr val="3AACF0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4974336" y="2980944"/>
            <a:ext cx="34747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5394960" y="2907792"/>
            <a:ext cx="340156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BDD5F0"/>
              </a:buClr>
              <a:buSzPts val="1100"/>
            </a:pPr>
            <a:r>
              <a:rPr lang="en-IN" sz="1100" dirty="0">
                <a:solidFill>
                  <a:schemeClr val="bg1"/>
                </a:solidFill>
              </a:rPr>
              <a:t>Regression Modeling</a:t>
            </a:r>
            <a:endParaRPr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4974336" y="3657600"/>
            <a:ext cx="347472" cy="530352"/>
          </a:xfrm>
          <a:prstGeom prst="rect">
            <a:avLst/>
          </a:prstGeom>
          <a:solidFill>
            <a:srgbClr val="3AACF0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4974336" y="3657600"/>
            <a:ext cx="34747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5394960" y="3584448"/>
            <a:ext cx="340156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DD5F0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Statistical analysis &amp; model evaluation</a:t>
            </a:r>
            <a:endParaRPr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4974336" y="4334256"/>
            <a:ext cx="347472" cy="530352"/>
          </a:xfrm>
          <a:prstGeom prst="rect">
            <a:avLst/>
          </a:prstGeom>
          <a:solidFill>
            <a:srgbClr val="3AACF0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4974336" y="4334256"/>
            <a:ext cx="34747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5394960" y="4261104"/>
            <a:ext cx="340156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BDD5F0"/>
              </a:buClr>
              <a:buSzPts val="1100"/>
            </a:pP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Professional </a:t>
            </a:r>
            <a:r>
              <a:rPr lang="en-IN" sz="1100" dirty="0">
                <a:solidFill>
                  <a:schemeClr val="bg1"/>
                </a:solidFill>
              </a:rPr>
              <a:t>Technical</a:t>
            </a: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documentation &amp; reporting</a:t>
            </a:r>
            <a:endParaRPr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6E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2B5BA8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7315200" y="-914400"/>
            <a:ext cx="2926080" cy="2926080"/>
          </a:xfrm>
          <a:prstGeom prst="ellipse">
            <a:avLst/>
          </a:prstGeom>
          <a:solidFill>
            <a:srgbClr val="4A80D4">
              <a:alpha val="3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AC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6" name="Google Shape;306;p12" descr="/home/claude/logo_no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5240" y="100584"/>
            <a:ext cx="1371600" cy="56943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2"/>
          <p:cNvSpPr/>
          <p:nvPr/>
        </p:nvSpPr>
        <p:spPr>
          <a:xfrm>
            <a:off x="320040" y="146304"/>
            <a:ext cx="621792" cy="621792"/>
          </a:xfrm>
          <a:prstGeom prst="ellipse">
            <a:avLst/>
          </a:prstGeom>
          <a:solidFill>
            <a:srgbClr val="3AACF0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8" name="Google Shape;308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2336" y="228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2"/>
          <p:cNvSpPr/>
          <p:nvPr/>
        </p:nvSpPr>
        <p:spPr>
          <a:xfrm>
            <a:off x="1078992" y="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Future Scope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6949440" y="0"/>
            <a:ext cx="640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1D9E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D1D9E6"/>
                </a:solidFill>
                <a:latin typeface="Calibri"/>
                <a:ea typeface="Calibri"/>
                <a:cs typeface="Calibri"/>
                <a:sym typeface="Calibri"/>
              </a:rPr>
              <a:t>10 /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256032" y="1078992"/>
            <a:ext cx="2834640" cy="3730752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270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256032" y="1078992"/>
            <a:ext cx="2834640" cy="658368"/>
          </a:xfrm>
          <a:prstGeom prst="rect">
            <a:avLst/>
          </a:prstGeom>
          <a:solidFill>
            <a:srgbClr val="2B5B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365760" y="1170432"/>
            <a:ext cx="475488" cy="475488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4" name="Google Shape;314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2336" y="120700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2"/>
          <p:cNvSpPr/>
          <p:nvPr/>
        </p:nvSpPr>
        <p:spPr>
          <a:xfrm>
            <a:off x="950976" y="1078992"/>
            <a:ext cx="206654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Summary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420624" y="1792224"/>
            <a:ext cx="2505456" cy="298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r>
              <a:rPr lang="en-IN" sz="1100" dirty="0">
                <a:solidFill>
                  <a:schemeClr val="bg1"/>
                </a:solidFill>
              </a:rPr>
              <a:t>House Price Prediction Model Developed</a:t>
            </a:r>
          </a:p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endParaRPr lang="en-IN"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r>
              <a:rPr lang="en-IN" sz="1100" dirty="0">
                <a:solidFill>
                  <a:schemeClr val="bg1"/>
                </a:solidFill>
              </a:rPr>
              <a:t>Housing Dataset Successfully Processed</a:t>
            </a:r>
          </a:p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endParaRPr lang="en-IN"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r>
              <a:rPr lang="en-IN" sz="1100" dirty="0">
                <a:solidFill>
                  <a:schemeClr val="bg1"/>
                </a:solidFill>
              </a:rPr>
              <a:t>One-Hot Encoding Implemented</a:t>
            </a:r>
          </a:p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endParaRPr lang="en-IN"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r>
              <a:rPr lang="en-IN" sz="1100" dirty="0">
                <a:solidFill>
                  <a:schemeClr val="bg1"/>
                </a:solidFill>
              </a:rPr>
              <a:t>VIF Analysis Completed</a:t>
            </a:r>
          </a:p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endParaRPr lang="en-IN"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r>
              <a:rPr lang="en-IN" sz="1100" dirty="0">
                <a:solidFill>
                  <a:schemeClr val="bg1"/>
                </a:solidFill>
              </a:rPr>
              <a:t>Linear Regression Selected as Best Model</a:t>
            </a:r>
          </a:p>
        </p:txBody>
      </p:sp>
      <p:sp>
        <p:nvSpPr>
          <p:cNvPr id="317" name="Google Shape;317;p12"/>
          <p:cNvSpPr/>
          <p:nvPr/>
        </p:nvSpPr>
        <p:spPr>
          <a:xfrm>
            <a:off x="3218688" y="1078992"/>
            <a:ext cx="2834640" cy="3730752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270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3218688" y="1078992"/>
            <a:ext cx="2834640" cy="65836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3328416" y="1170432"/>
            <a:ext cx="475488" cy="475488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0" name="Google Shape;320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64992" y="120700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2"/>
          <p:cNvSpPr/>
          <p:nvPr/>
        </p:nvSpPr>
        <p:spPr>
          <a:xfrm>
            <a:off x="3913632" y="1078992"/>
            <a:ext cx="206654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Achievements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3383280" y="1792224"/>
            <a:ext cx="2505456" cy="298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r>
              <a:rPr lang="en-IN" sz="1100" dirty="0">
                <a:solidFill>
                  <a:schemeClr val="bg1"/>
                </a:solidFill>
              </a:rPr>
              <a:t>Successfully developed a House Price Prediction Model using Machine Learning</a:t>
            </a:r>
          </a:p>
          <a:p>
            <a:pPr lvl="0">
              <a:buClr>
                <a:srgbClr val="BDD5F0"/>
              </a:buClr>
              <a:buSzPts val="1100"/>
            </a:pPr>
            <a:endParaRPr lang="en-IN" sz="1100" dirty="0">
              <a:solidFill>
                <a:schemeClr val="bg1"/>
              </a:solidFill>
            </a:endParaRPr>
          </a:p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r>
              <a:rPr lang="en-IN" sz="1100" dirty="0">
                <a:solidFill>
                  <a:schemeClr val="bg1"/>
                </a:solidFill>
              </a:rPr>
              <a:t>Achieved an R² Score of </a:t>
            </a:r>
            <a:r>
              <a:rPr lang="en-IN" sz="1100" b="1" dirty="0">
                <a:solidFill>
                  <a:schemeClr val="bg1"/>
                </a:solidFill>
              </a:rPr>
              <a:t>0.65</a:t>
            </a:r>
            <a:r>
              <a:rPr lang="en-IN" sz="1100" dirty="0">
                <a:solidFill>
                  <a:schemeClr val="bg1"/>
                </a:solidFill>
              </a:rPr>
              <a:t> on the test dataset</a:t>
            </a:r>
          </a:p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endParaRPr lang="en-IN"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r>
              <a:rPr lang="en-IN" sz="1100" dirty="0">
                <a:solidFill>
                  <a:schemeClr val="bg1"/>
                </a:solidFill>
              </a:rPr>
              <a:t>Performed Data Cleaning, EDA, and Feature Engineering successfully</a:t>
            </a:r>
          </a:p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endParaRPr lang="en-IN" sz="1100" dirty="0">
              <a:solidFill>
                <a:schemeClr val="bg1"/>
              </a:solidFill>
            </a:endParaRPr>
          </a:p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r>
              <a:rPr lang="en-IN" sz="1100" dirty="0">
                <a:solidFill>
                  <a:schemeClr val="bg1"/>
                </a:solidFill>
              </a:rPr>
              <a:t>Implemented One-Hot Encoding and Multi-Collinearity (VIF) Analysis</a:t>
            </a:r>
          </a:p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endParaRPr lang="en-IN" sz="1100" dirty="0">
              <a:solidFill>
                <a:schemeClr val="bg1"/>
              </a:solidFill>
            </a:endParaRPr>
          </a:p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r>
              <a:rPr lang="en-IN" sz="1100" dirty="0">
                <a:solidFill>
                  <a:schemeClr val="bg1"/>
                </a:solidFill>
              </a:rPr>
              <a:t>Compared Linear Regression and Ridge Regression to select the optimal model</a:t>
            </a:r>
            <a:endParaRPr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6181344" y="1078992"/>
            <a:ext cx="2834640" cy="3730752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1270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6181344" y="1078992"/>
            <a:ext cx="2834640" cy="658368"/>
          </a:xfrm>
          <a:prstGeom prst="rect">
            <a:avLst/>
          </a:prstGeom>
          <a:solidFill>
            <a:srgbClr val="1A6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6291072" y="1170432"/>
            <a:ext cx="475488" cy="475488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6" name="Google Shape;326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7648" y="120700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2"/>
          <p:cNvSpPr/>
          <p:nvPr/>
        </p:nvSpPr>
        <p:spPr>
          <a:xfrm>
            <a:off x="6876288" y="1078992"/>
            <a:ext cx="206654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Improvements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6345936" y="1792224"/>
            <a:ext cx="2505456" cy="298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r>
              <a:rPr lang="en-IN" sz="1100" dirty="0">
                <a:solidFill>
                  <a:schemeClr val="bg1"/>
                </a:solidFill>
              </a:rPr>
              <a:t>Random Forest Regression</a:t>
            </a:r>
          </a:p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endParaRPr lang="en-IN"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buClr>
                <a:srgbClr val="BDD5F0"/>
              </a:buClr>
              <a:buSzPts val="1100"/>
              <a:buFont typeface="Calibri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Real-time data streaming &amp; live dashboard</a:t>
            </a:r>
            <a:endParaRPr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spcBef>
                <a:spcPts val="1600"/>
              </a:spcBef>
              <a:buClr>
                <a:srgbClr val="BDD5F0"/>
              </a:buClr>
              <a:buSzPts val="1100"/>
              <a:buFont typeface="Calibri"/>
              <a:buChar char="•"/>
            </a:pPr>
            <a:r>
              <a:rPr lang="en-IN" sz="1100" dirty="0" err="1">
                <a:solidFill>
                  <a:schemeClr val="bg1"/>
                </a:solidFill>
              </a:rPr>
              <a:t>XGBoost</a:t>
            </a:r>
            <a:r>
              <a:rPr lang="en-IN" sz="1100" dirty="0">
                <a:solidFill>
                  <a:schemeClr val="bg1"/>
                </a:solidFill>
              </a:rPr>
              <a:t> Models</a:t>
            </a:r>
          </a:p>
          <a:p>
            <a:pPr marL="342900" lvl="0" indent="-342900">
              <a:spcBef>
                <a:spcPts val="1600"/>
              </a:spcBef>
              <a:buClr>
                <a:srgbClr val="BDD5F0"/>
              </a:buClr>
              <a:buSzPts val="1100"/>
              <a:buFont typeface="Calibri"/>
              <a:buChar char="•"/>
            </a:pPr>
            <a:r>
              <a:rPr lang="en-IN" sz="1100" dirty="0">
                <a:solidFill>
                  <a:schemeClr val="bg1"/>
                </a:solidFill>
              </a:rPr>
              <a:t>Web-Based Prediction System</a:t>
            </a:r>
          </a:p>
          <a:p>
            <a:pPr marL="342900" lvl="0" indent="-342900">
              <a:spcBef>
                <a:spcPts val="1600"/>
              </a:spcBef>
              <a:buClr>
                <a:srgbClr val="BDD5F0"/>
              </a:buClr>
              <a:buSzPts val="1100"/>
              <a:buFont typeface="Calibri"/>
              <a:buChar char="•"/>
            </a:pPr>
            <a:r>
              <a:rPr lang="en-IN" sz="1100" dirty="0">
                <a:solidFill>
                  <a:schemeClr val="bg1"/>
                </a:solidFill>
              </a:rPr>
              <a:t>Real-Time Housing Analytics</a:t>
            </a:r>
            <a:endParaRPr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256032" y="4864608"/>
            <a:ext cx="8631936" cy="201168"/>
          </a:xfrm>
          <a:prstGeom prst="rect">
            <a:avLst/>
          </a:prstGeom>
          <a:solidFill>
            <a:srgbClr val="3AACF0">
              <a:alpha val="6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0" name="Google Shape;330;p12"/>
          <p:cNvSpPr/>
          <p:nvPr/>
        </p:nvSpPr>
        <p:spPr>
          <a:xfrm>
            <a:off x="256032" y="4864608"/>
            <a:ext cx="86319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  |  Questions &amp; Feedback Welcome  |  EduTech Solutions Internship  |  Ganesh Sunil Rathod</a:t>
            </a:r>
            <a:endParaRPr sz="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765</Words>
  <Application>Microsoft Office PowerPoint</Application>
  <PresentationFormat>On-screen Show (16:9)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Ganeshh Rathod</cp:lastModifiedBy>
  <cp:revision>3</cp:revision>
  <dcterms:modified xsi:type="dcterms:W3CDTF">2026-06-22T17:38:49Z</dcterms:modified>
</cp:coreProperties>
</file>